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6" r:id="rId10"/>
    <p:sldId id="265" r:id="rId11"/>
    <p:sldId id="268" r:id="rId12"/>
    <p:sldId id="267"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ro" initials="S" lastIdx="1" clrIdx="0">
    <p:extLst>
      <p:ext uri="{19B8F6BF-5375-455C-9EA6-DF929625EA0E}">
        <p15:presenceInfo xmlns:p15="http://schemas.microsoft.com/office/powerpoint/2012/main" userId="Ser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4-21T17:05:32.472" idx="1">
    <p:pos x="10" y="10"/>
    <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4677634-160E-4105-A4DE-35FB8E51C5ED}" type="datetimeFigureOut">
              <a:rPr lang="tr-TR" smtClean="0"/>
              <a:t>1.05.2020</a:t>
            </a:fld>
            <a:endParaRPr lang="tr-TR"/>
          </a:p>
        </p:txBody>
      </p:sp>
      <p:sp>
        <p:nvSpPr>
          <p:cNvPr id="5" name="Footer Placeholder 4"/>
          <p:cNvSpPr>
            <a:spLocks noGrp="1"/>
          </p:cNvSpPr>
          <p:nvPr>
            <p:ph type="ftr" sz="quarter" idx="11"/>
          </p:nvPr>
        </p:nvSpPr>
        <p:spPr>
          <a:xfrm>
            <a:off x="2692397" y="5037663"/>
            <a:ext cx="5214635" cy="279400"/>
          </a:xfrm>
        </p:spPr>
        <p:txBody>
          <a:bodyPr/>
          <a:lstStyle/>
          <a:p>
            <a:endParaRPr lang="tr-TR"/>
          </a:p>
        </p:txBody>
      </p:sp>
      <p:sp>
        <p:nvSpPr>
          <p:cNvPr id="6" name="Slide Number Placeholder 5"/>
          <p:cNvSpPr>
            <a:spLocks noGrp="1"/>
          </p:cNvSpPr>
          <p:nvPr>
            <p:ph type="sldNum" sz="quarter" idx="12"/>
          </p:nvPr>
        </p:nvSpPr>
        <p:spPr>
          <a:xfrm>
            <a:off x="8956900" y="5037663"/>
            <a:ext cx="551167" cy="279400"/>
          </a:xfrm>
        </p:spPr>
        <p:txBody>
          <a:bodyPr/>
          <a:lstStyle/>
          <a:p>
            <a:fld id="{9782DC0C-3070-4CCF-84EE-E33D346AB8BA}" type="slidenum">
              <a:rPr lang="tr-TR" smtClean="0"/>
              <a:t>‹#›</a:t>
            </a:fld>
            <a:endParaRPr lang="tr-TR"/>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9205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4677634-160E-4105-A4DE-35FB8E51C5ED}" type="datetimeFigureOut">
              <a:rPr lang="tr-TR" smtClean="0"/>
              <a:t>1.05.2020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782DC0C-3070-4CCF-84EE-E33D346AB8BA}" type="slidenum">
              <a:rPr lang="tr-TR" smtClean="0"/>
              <a:t>‹#›</a:t>
            </a:fld>
            <a:endParaRPr lang="tr-TR"/>
          </a:p>
        </p:txBody>
      </p:sp>
    </p:spTree>
    <p:extLst>
      <p:ext uri="{BB962C8B-B14F-4D97-AF65-F5344CB8AC3E}">
        <p14:creationId xmlns:p14="http://schemas.microsoft.com/office/powerpoint/2010/main" val="1978411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677634-160E-4105-A4DE-35FB8E51C5ED}" type="datetimeFigureOut">
              <a:rPr lang="tr-TR" smtClean="0"/>
              <a:t>1.05.2020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782DC0C-3070-4CCF-84EE-E33D346AB8BA}" type="slidenum">
              <a:rPr lang="tr-TR" smtClean="0"/>
              <a:t>‹#›</a:t>
            </a:fld>
            <a:endParaRPr lang="tr-TR"/>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3973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4677634-160E-4105-A4DE-35FB8E51C5ED}" type="datetimeFigureOut">
              <a:rPr lang="tr-TR" smtClean="0"/>
              <a:t>1.05.2020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782DC0C-3070-4CCF-84EE-E33D346AB8BA}" type="slidenum">
              <a:rPr lang="tr-TR" smtClean="0"/>
              <a:t>‹#›</a:t>
            </a:fld>
            <a:endParaRPr lang="tr-TR"/>
          </a:p>
        </p:txBody>
      </p:sp>
    </p:spTree>
    <p:extLst>
      <p:ext uri="{BB962C8B-B14F-4D97-AF65-F5344CB8AC3E}">
        <p14:creationId xmlns:p14="http://schemas.microsoft.com/office/powerpoint/2010/main" val="2497977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4677634-160E-4105-A4DE-35FB8E51C5ED}" type="datetimeFigureOut">
              <a:rPr lang="tr-TR" smtClean="0"/>
              <a:t>1.05.2020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9782DC0C-3070-4CCF-84EE-E33D346AB8BA}" type="slidenum">
              <a:rPr lang="tr-TR" smtClean="0"/>
              <a:t>‹#›</a:t>
            </a:fld>
            <a:endParaRPr lang="tr-TR"/>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4004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4677634-160E-4105-A4DE-35FB8E51C5ED}" type="datetimeFigureOut">
              <a:rPr lang="tr-TR" smtClean="0"/>
              <a:t>1.05.2020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9782DC0C-3070-4CCF-84EE-E33D346AB8BA}" type="slidenum">
              <a:rPr lang="tr-TR" smtClean="0"/>
              <a:t>‹#›</a:t>
            </a:fld>
            <a:endParaRPr lang="tr-T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6041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677634-160E-4105-A4DE-35FB8E51C5ED}" type="datetimeFigureOut">
              <a:rPr lang="tr-TR" smtClean="0"/>
              <a:t>1.05.2020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9782DC0C-3070-4CCF-84EE-E33D346AB8BA}" type="slidenum">
              <a:rPr lang="tr-TR" smtClean="0"/>
              <a:t>‹#›</a:t>
            </a:fld>
            <a:endParaRPr lang="tr-TR"/>
          </a:p>
        </p:txBody>
      </p:sp>
    </p:spTree>
    <p:extLst>
      <p:ext uri="{BB962C8B-B14F-4D97-AF65-F5344CB8AC3E}">
        <p14:creationId xmlns:p14="http://schemas.microsoft.com/office/powerpoint/2010/main" val="3274159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4677634-160E-4105-A4DE-35FB8E51C5ED}" type="datetimeFigureOut">
              <a:rPr lang="tr-TR" smtClean="0"/>
              <a:t>1.05.2020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782DC0C-3070-4CCF-84EE-E33D346AB8BA}" type="slidenum">
              <a:rPr lang="tr-TR" smtClean="0"/>
              <a:t>‹#›</a:t>
            </a:fld>
            <a:endParaRPr lang="tr-TR"/>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5585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4677634-160E-4105-A4DE-35FB8E51C5ED}" type="datetimeFigureOut">
              <a:rPr lang="tr-TR" smtClean="0"/>
              <a:t>1.05.2020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782DC0C-3070-4CCF-84EE-E33D346AB8BA}" type="slidenum">
              <a:rPr lang="tr-TR" smtClean="0"/>
              <a:t>‹#›</a:t>
            </a:fld>
            <a:endParaRPr lang="tr-TR"/>
          </a:p>
        </p:txBody>
      </p:sp>
    </p:spTree>
    <p:extLst>
      <p:ext uri="{BB962C8B-B14F-4D97-AF65-F5344CB8AC3E}">
        <p14:creationId xmlns:p14="http://schemas.microsoft.com/office/powerpoint/2010/main" val="1339617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4677634-160E-4105-A4DE-35FB8E51C5ED}" type="datetimeFigureOut">
              <a:rPr lang="tr-TR" smtClean="0"/>
              <a:t>1.05.2020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782DC0C-3070-4CCF-84EE-E33D346AB8BA}" type="slidenum">
              <a:rPr lang="tr-TR" smtClean="0"/>
              <a:t>‹#›</a:t>
            </a:fld>
            <a:endParaRPr lang="tr-TR"/>
          </a:p>
        </p:txBody>
      </p:sp>
    </p:spTree>
    <p:extLst>
      <p:ext uri="{BB962C8B-B14F-4D97-AF65-F5344CB8AC3E}">
        <p14:creationId xmlns:p14="http://schemas.microsoft.com/office/powerpoint/2010/main" val="2440956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677634-160E-4105-A4DE-35FB8E51C5ED}" type="datetimeFigureOut">
              <a:rPr lang="tr-TR" smtClean="0"/>
              <a:t>1.05.2020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782DC0C-3070-4CCF-84EE-E33D346AB8BA}" type="slidenum">
              <a:rPr lang="tr-TR" smtClean="0"/>
              <a:t>‹#›</a:t>
            </a:fld>
            <a:endParaRPr lang="tr-TR"/>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7087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677634-160E-4105-A4DE-35FB8E51C5ED}" type="datetimeFigureOut">
              <a:rPr lang="tr-TR" smtClean="0"/>
              <a:t>1.05.2020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782DC0C-3070-4CCF-84EE-E33D346AB8BA}" type="slidenum">
              <a:rPr lang="tr-TR" smtClean="0"/>
              <a:t>‹#›</a:t>
            </a:fld>
            <a:endParaRPr lang="tr-TR"/>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8645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677634-160E-4105-A4DE-35FB8E51C5ED}" type="datetimeFigureOut">
              <a:rPr lang="tr-TR" smtClean="0"/>
              <a:t>1.05.2020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782DC0C-3070-4CCF-84EE-E33D346AB8BA}" type="slidenum">
              <a:rPr lang="tr-TR" smtClean="0"/>
              <a:t>‹#›</a:t>
            </a:fld>
            <a:endParaRPr lang="tr-TR"/>
          </a:p>
        </p:txBody>
      </p:sp>
    </p:spTree>
    <p:extLst>
      <p:ext uri="{BB962C8B-B14F-4D97-AF65-F5344CB8AC3E}">
        <p14:creationId xmlns:p14="http://schemas.microsoft.com/office/powerpoint/2010/main" val="1837021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677634-160E-4105-A4DE-35FB8E51C5ED}" type="datetimeFigureOut">
              <a:rPr lang="tr-TR" smtClean="0"/>
              <a:t>1.05.2020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782DC0C-3070-4CCF-84EE-E33D346AB8BA}" type="slidenum">
              <a:rPr lang="tr-TR" smtClean="0"/>
              <a:t>‹#›</a:t>
            </a:fld>
            <a:endParaRPr lang="tr-TR"/>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00986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677634-160E-4105-A4DE-35FB8E51C5ED}" type="datetimeFigureOut">
              <a:rPr lang="tr-TR" smtClean="0"/>
              <a:t>1.05.2020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782DC0C-3070-4CCF-84EE-E33D346AB8BA}" type="slidenum">
              <a:rPr lang="tr-TR" smtClean="0"/>
              <a:t>‹#›</a:t>
            </a:fld>
            <a:endParaRPr lang="tr-TR"/>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0572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4677634-160E-4105-A4DE-35FB8E51C5ED}" type="datetimeFigureOut">
              <a:rPr lang="tr-TR" smtClean="0"/>
              <a:t>1.05.2020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782DC0C-3070-4CCF-84EE-E33D346AB8BA}" type="slidenum">
              <a:rPr lang="tr-TR" smtClean="0"/>
              <a:t>‹#›</a:t>
            </a:fld>
            <a:endParaRPr lang="tr-T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919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4677634-160E-4105-A4DE-35FB8E51C5ED}" type="datetimeFigureOut">
              <a:rPr lang="tr-TR" smtClean="0"/>
              <a:t>1.05.2020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782DC0C-3070-4CCF-84EE-E33D346AB8BA}" type="slidenum">
              <a:rPr lang="tr-TR" smtClean="0"/>
              <a:t>‹#›</a:t>
            </a:fld>
            <a:endParaRPr lang="tr-TR"/>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4476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4677634-160E-4105-A4DE-35FB8E51C5ED}" type="datetimeFigureOut">
              <a:rPr lang="tr-TR" smtClean="0"/>
              <a:t>1.05.2020</a:t>
            </a:fld>
            <a:endParaRPr lang="tr-TR"/>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tr-T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782DC0C-3070-4CCF-84EE-E33D346AB8BA}" type="slidenum">
              <a:rPr lang="tr-TR" smtClean="0"/>
              <a:t>‹#›</a:t>
            </a:fld>
            <a:endParaRPr lang="tr-TR"/>
          </a:p>
        </p:txBody>
      </p:sp>
    </p:spTree>
    <p:extLst>
      <p:ext uri="{BB962C8B-B14F-4D97-AF65-F5344CB8AC3E}">
        <p14:creationId xmlns:p14="http://schemas.microsoft.com/office/powerpoint/2010/main" val="1269081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onsole.firebase.google.com/" TargetMode="External"/><Relationship Id="rId2" Type="http://schemas.openxmlformats.org/officeDocument/2006/relationships/hyperlink" Target="https://firebase.google.com/docs/ml-kit/android/identify-languages?authuser=0" TargetMode="External"/><Relationship Id="rId1" Type="http://schemas.openxmlformats.org/officeDocument/2006/relationships/slideLayout" Target="../slideLayouts/slideLayout2.xml"/><Relationship Id="rId4" Type="http://schemas.openxmlformats.org/officeDocument/2006/relationships/hyperlink" Target="https://tutorial.eyehunts.com/android/android-checkbox-example-kotl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dirty="0" smtClean="0"/>
              <a:t>Android Programlamaya Giriş</a:t>
            </a:r>
            <a:endParaRPr lang="tr-TR" dirty="0"/>
          </a:p>
        </p:txBody>
      </p:sp>
      <p:sp>
        <p:nvSpPr>
          <p:cNvPr id="3" name="Subtitle 2"/>
          <p:cNvSpPr>
            <a:spLocks noGrp="1"/>
          </p:cNvSpPr>
          <p:nvPr>
            <p:ph type="subTitle" idx="1"/>
          </p:nvPr>
        </p:nvSpPr>
        <p:spPr>
          <a:xfrm>
            <a:off x="2692398" y="3657597"/>
            <a:ext cx="6815669" cy="1696918"/>
          </a:xfrm>
        </p:spPr>
        <p:txBody>
          <a:bodyPr>
            <a:normAutofit fontScale="40000" lnSpcReduction="20000"/>
          </a:bodyPr>
          <a:lstStyle/>
          <a:p>
            <a:pPr algn="l"/>
            <a:r>
              <a:rPr lang="tr-TR" sz="2500" b="1" i="1" dirty="0"/>
              <a:t>ÖĞRENCİNİN;</a:t>
            </a:r>
            <a:endParaRPr lang="tr-TR" sz="2500" dirty="0"/>
          </a:p>
          <a:p>
            <a:pPr algn="l"/>
            <a:r>
              <a:rPr lang="tr-TR" sz="2500" b="1" i="1" dirty="0"/>
              <a:t>ADI = SERDAR MURAT</a:t>
            </a:r>
            <a:endParaRPr lang="tr-TR" sz="2500" dirty="0"/>
          </a:p>
          <a:p>
            <a:pPr algn="l"/>
            <a:r>
              <a:rPr lang="tr-TR" sz="2500" b="1" i="1" dirty="0"/>
              <a:t>SOYADI = ERİÇOK</a:t>
            </a:r>
            <a:endParaRPr lang="tr-TR" sz="2500" dirty="0"/>
          </a:p>
          <a:p>
            <a:pPr algn="l"/>
            <a:r>
              <a:rPr lang="tr-TR" sz="2500" b="1" i="1" dirty="0"/>
              <a:t>NUMARASI = 18MY93001	</a:t>
            </a:r>
            <a:endParaRPr lang="tr-TR" sz="2500" dirty="0"/>
          </a:p>
          <a:p>
            <a:r>
              <a:rPr lang="tr-TR" sz="5000" b="1" i="1" dirty="0" smtClean="0"/>
              <a:t>KOTLİN</a:t>
            </a:r>
            <a:r>
              <a:rPr lang="tr-TR" sz="5000" b="1" i="1" dirty="0"/>
              <a:t> </a:t>
            </a:r>
            <a:endParaRPr lang="tr-TR" sz="5000" dirty="0"/>
          </a:p>
          <a:p>
            <a:pPr algn="r"/>
            <a:r>
              <a:rPr lang="tr-TR" b="1" i="1" dirty="0"/>
              <a:t>MOBİL TEKNOLOJİLERİ</a:t>
            </a:r>
            <a:endParaRPr lang="tr-TR" dirty="0"/>
          </a:p>
          <a:p>
            <a:pPr algn="r"/>
            <a:r>
              <a:rPr lang="tr-TR" b="1" i="1" dirty="0"/>
              <a:t>ÖGR.GRV.NİLGÜN İNCEREİS</a:t>
            </a:r>
            <a:endParaRPr lang="tr-TR" dirty="0"/>
          </a:p>
        </p:txBody>
      </p:sp>
      <p:sp>
        <p:nvSpPr>
          <p:cNvPr id="4" name="TextBox 3"/>
          <p:cNvSpPr txBox="1"/>
          <p:nvPr/>
        </p:nvSpPr>
        <p:spPr>
          <a:xfrm>
            <a:off x="6409592" y="3666385"/>
            <a:ext cx="2919047" cy="338554"/>
          </a:xfrm>
          <a:prstGeom prst="rect">
            <a:avLst/>
          </a:prstGeom>
          <a:noFill/>
        </p:spPr>
        <p:txBody>
          <a:bodyPr wrap="square" rtlCol="0">
            <a:spAutoFit/>
          </a:bodyPr>
          <a:lstStyle/>
          <a:p>
            <a:pPr algn="ctr"/>
            <a:r>
              <a:rPr lang="tr-TR" sz="1600" b="1" i="1" dirty="0" smtClean="0"/>
              <a:t>İNTERTRANSLATİON</a:t>
            </a:r>
          </a:p>
        </p:txBody>
      </p:sp>
    </p:spTree>
    <p:extLst>
      <p:ext uri="{BB962C8B-B14F-4D97-AF65-F5344CB8AC3E}">
        <p14:creationId xmlns:p14="http://schemas.microsoft.com/office/powerpoint/2010/main" val="2185854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5460" y="630439"/>
            <a:ext cx="7326921" cy="1303867"/>
          </a:xfrm>
        </p:spPr>
        <p:txBody>
          <a:bodyPr/>
          <a:lstStyle/>
          <a:p>
            <a:r>
              <a:rPr lang="tr-TR" b="1" dirty="0" smtClean="0"/>
              <a:t>INTERTRANSLATİON;</a:t>
            </a:r>
            <a:endParaRPr lang="tr-TR" b="1" dirty="0"/>
          </a:p>
        </p:txBody>
      </p:sp>
      <p:sp>
        <p:nvSpPr>
          <p:cNvPr id="3" name="Content Placeholder 2"/>
          <p:cNvSpPr>
            <a:spLocks noGrp="1"/>
          </p:cNvSpPr>
          <p:nvPr>
            <p:ph idx="1"/>
          </p:nvPr>
        </p:nvSpPr>
        <p:spPr>
          <a:xfrm>
            <a:off x="615460" y="2556932"/>
            <a:ext cx="10937632" cy="3685606"/>
          </a:xfrm>
        </p:spPr>
        <p:txBody>
          <a:bodyPr/>
          <a:lstStyle/>
          <a:p>
            <a:r>
              <a:rPr lang="tr-TR" dirty="0"/>
              <a:t>Öncelikle </a:t>
            </a:r>
            <a:r>
              <a:rPr lang="tr-TR" dirty="0" smtClean="0"/>
              <a:t>projemde mobil cihazlarından sözlük </a:t>
            </a:r>
            <a:r>
              <a:rPr lang="tr-TR" dirty="0"/>
              <a:t>kullanan </a:t>
            </a:r>
            <a:r>
              <a:rPr lang="tr-TR" dirty="0" smtClean="0"/>
              <a:t>insanlara, </a:t>
            </a:r>
            <a:r>
              <a:rPr lang="tr-TR" dirty="0"/>
              <a:t>eksiklerini ve uygulamalardaki gereksinimleri sordum. Bu konular hakkında eksikleri ayıklayıp, uygulamaya çalıştım. Benim için gerekli olan tablolarımı ve komutlarımı hazırladım, listeledim. Hazırlıklarımı uygulamaya geçirdiğimde daha kullanışlı olduğunu farkettim. Şimdi size bazı önemli detayları paylaşacağım.</a:t>
            </a:r>
          </a:p>
          <a:p>
            <a:endParaRPr lang="tr-TR" dirty="0"/>
          </a:p>
        </p:txBody>
      </p:sp>
      <p:pic>
        <p:nvPicPr>
          <p:cNvPr id="4" name="Picture 3"/>
          <p:cNvPicPr>
            <a:picLocks noChangeAspect="1"/>
          </p:cNvPicPr>
          <p:nvPr/>
        </p:nvPicPr>
        <p:blipFill>
          <a:blip r:embed="rId2"/>
          <a:stretch>
            <a:fillRect/>
          </a:stretch>
        </p:blipFill>
        <p:spPr>
          <a:xfrm>
            <a:off x="7789983" y="4103457"/>
            <a:ext cx="3077309" cy="1999387"/>
          </a:xfrm>
          <a:prstGeom prst="rect">
            <a:avLst/>
          </a:prstGeom>
        </p:spPr>
      </p:pic>
      <p:sp>
        <p:nvSpPr>
          <p:cNvPr id="5" name="TextBox 4"/>
          <p:cNvSpPr txBox="1"/>
          <p:nvPr/>
        </p:nvSpPr>
        <p:spPr>
          <a:xfrm>
            <a:off x="7789983" y="4107069"/>
            <a:ext cx="3077310" cy="369332"/>
          </a:xfrm>
          <a:prstGeom prst="rect">
            <a:avLst/>
          </a:prstGeom>
          <a:solidFill>
            <a:schemeClr val="accent6">
              <a:lumMod val="60000"/>
              <a:lumOff val="40000"/>
            </a:schemeClr>
          </a:solidFill>
        </p:spPr>
        <p:txBody>
          <a:bodyPr wrap="square" rtlCol="0">
            <a:spAutoFit/>
          </a:bodyPr>
          <a:lstStyle/>
          <a:p>
            <a:r>
              <a:rPr lang="tr-TR" dirty="0" smtClean="0"/>
              <a:t>Aşamalarım;</a:t>
            </a:r>
            <a:endParaRPr lang="tr-TR" dirty="0"/>
          </a:p>
        </p:txBody>
      </p:sp>
    </p:spTree>
    <p:extLst>
      <p:ext uri="{BB962C8B-B14F-4D97-AF65-F5344CB8AC3E}">
        <p14:creationId xmlns:p14="http://schemas.microsoft.com/office/powerpoint/2010/main" val="1546637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185" y="621647"/>
            <a:ext cx="3601915" cy="477391"/>
          </a:xfrm>
        </p:spPr>
        <p:txBody>
          <a:bodyPr>
            <a:normAutofit fontScale="90000"/>
          </a:bodyPr>
          <a:lstStyle/>
          <a:p>
            <a:r>
              <a:rPr lang="tr-TR" dirty="0" smtClean="0"/>
              <a:t>Kotlin</a:t>
            </a:r>
            <a:endParaRPr lang="tr-TR" dirty="0"/>
          </a:p>
        </p:txBody>
      </p:sp>
      <p:sp>
        <p:nvSpPr>
          <p:cNvPr id="3" name="Content Placeholder 2"/>
          <p:cNvSpPr>
            <a:spLocks noGrp="1"/>
          </p:cNvSpPr>
          <p:nvPr>
            <p:ph idx="1"/>
          </p:nvPr>
        </p:nvSpPr>
        <p:spPr>
          <a:xfrm>
            <a:off x="706316" y="1123784"/>
            <a:ext cx="9818076" cy="1417193"/>
          </a:xfrm>
        </p:spPr>
        <p:txBody>
          <a:bodyPr>
            <a:normAutofit fontScale="40000" lnSpcReduction="20000"/>
          </a:bodyPr>
          <a:lstStyle/>
          <a:p>
            <a:r>
              <a:rPr lang="tr-TR" sz="6000" b="1" dirty="0" smtClean="0"/>
              <a:t>Kotlin nedir</a:t>
            </a:r>
            <a:r>
              <a:rPr lang="tr-TR" sz="8000" b="1" dirty="0" smtClean="0"/>
              <a:t>?</a:t>
            </a:r>
          </a:p>
          <a:p>
            <a:r>
              <a:rPr lang="tr-TR" sz="2500" b="1" dirty="0">
                <a:latin typeface="Arial" panose="020B0604020202020204" pitchFamily="34" charset="0"/>
                <a:cs typeface="Arial" panose="020B0604020202020204" pitchFamily="34" charset="0"/>
              </a:rPr>
              <a:t>Kotlin JVM, yani (Java Virtual Machine) üstünde işlem gösteren bir programlama dili olarak ifade edilebilir. </a:t>
            </a:r>
            <a:r>
              <a:rPr lang="tr-TR" sz="2500" b="1" dirty="0" smtClean="0">
                <a:latin typeface="Arial" panose="020B0604020202020204" pitchFamily="34" charset="0"/>
                <a:cs typeface="Arial" panose="020B0604020202020204" pitchFamily="34" charset="0"/>
              </a:rPr>
              <a:t>Kotlin </a:t>
            </a:r>
            <a:r>
              <a:rPr lang="tr-TR" sz="2500" b="1" dirty="0">
                <a:latin typeface="Arial" panose="020B0604020202020204" pitchFamily="34" charset="0"/>
                <a:cs typeface="Arial" panose="020B0604020202020204" pitchFamily="34" charset="0"/>
              </a:rPr>
              <a:t>yazılım dilinin 2011 senesinde Jet Brains firması aracılığıyla geliştirilmeye başlanmış olduğunun duyurusu yapıldı ve Kotlin ilk sabit sürümünü (v1.0) 2016 senesinde </a:t>
            </a:r>
            <a:r>
              <a:rPr lang="tr-TR" sz="2500" b="1" dirty="0" smtClean="0">
                <a:latin typeface="Arial" panose="020B0604020202020204" pitchFamily="34" charset="0"/>
                <a:cs typeface="Arial" panose="020B0604020202020204" pitchFamily="34" charset="0"/>
              </a:rPr>
              <a:t>çıkardı. </a:t>
            </a:r>
            <a:r>
              <a:rPr lang="tr-TR" sz="2500" b="1" dirty="0">
                <a:latin typeface="Arial" panose="020B0604020202020204" pitchFamily="34" charset="0"/>
                <a:cs typeface="Arial" panose="020B0604020202020204" pitchFamily="34" charset="0"/>
              </a:rPr>
              <a:t>Bundan daha sonra Google ile beraber Intellij IDEA bazlı Android Studio’yu geliştirdiler ve Android’in resmi olarak geliştirici ide’si olmuş oldular. Hem java geliştiricileri hem de android için Eclipse ide yerine Intellj IDEA ve Android Studio alıyor. Yazılım dili olan Kotlin Google I/O 2017 etkinliğin içerisinde Java ve C++ dan sonra olmak kaydıyla Android’in resmi olarak 3. resmi geliştirici dili unvanıyla adını duyurdu. Bu duyuru sonrasında da Kotlin’in tanınırlığının artması da kaçınılması mümkün olmayan bir durum.</a:t>
            </a:r>
            <a:endParaRPr lang="tr-TR" sz="2500" b="1" dirty="0" smtClean="0">
              <a:latin typeface="Arial" panose="020B0604020202020204" pitchFamily="34" charset="0"/>
              <a:cs typeface="Arial" panose="020B0604020202020204" pitchFamily="34" charset="0"/>
            </a:endParaRPr>
          </a:p>
          <a:p>
            <a:endParaRPr lang="tr-TR" sz="2500" dirty="0"/>
          </a:p>
        </p:txBody>
      </p:sp>
      <p:sp>
        <p:nvSpPr>
          <p:cNvPr id="4" name="TextBox 3"/>
          <p:cNvSpPr txBox="1"/>
          <p:nvPr/>
        </p:nvSpPr>
        <p:spPr>
          <a:xfrm>
            <a:off x="1011115" y="2708031"/>
            <a:ext cx="10172700" cy="1785104"/>
          </a:xfrm>
          <a:prstGeom prst="rect">
            <a:avLst/>
          </a:prstGeom>
          <a:noFill/>
        </p:spPr>
        <p:txBody>
          <a:bodyPr wrap="square" rtlCol="0">
            <a:spAutoFit/>
          </a:bodyPr>
          <a:lstStyle/>
          <a:p>
            <a:r>
              <a:rPr lang="tr-TR" sz="2000" b="1" dirty="0" smtClean="0"/>
              <a:t>Androi Studio Nedir</a:t>
            </a:r>
            <a:r>
              <a:rPr lang="tr-TR" sz="2800" b="1" dirty="0" smtClean="0"/>
              <a:t>?</a:t>
            </a:r>
          </a:p>
          <a:p>
            <a:r>
              <a:rPr lang="tr-TR" dirty="0" smtClean="0">
                <a:latin typeface="Arial" panose="020B0604020202020204" pitchFamily="34" charset="0"/>
                <a:cs typeface="Arial" panose="020B0604020202020204" pitchFamily="34" charset="0"/>
              </a:rPr>
              <a:t>Android Studio, Android uyumlu cihazlar için uygulamaların geliştirildiği resmi bir yazılımdır. Resmi olmasının sebebi Google tarafından geliştirilmesidir. IntelliJ IDEA tabanlı olarak geliştirilen çok amaçlı geliştirilmiş ortamdır. Sadece Android cihazlar içindir.</a:t>
            </a:r>
            <a:r>
              <a:rPr lang="tr-TR" b="1" dirty="0">
                <a:latin typeface="Arial" panose="020B0604020202020204" pitchFamily="34" charset="0"/>
                <a:cs typeface="Arial" panose="020B0604020202020204" pitchFamily="34" charset="0"/>
              </a:rPr>
              <a:t> </a:t>
            </a:r>
            <a:endParaRPr lang="tr-TR" b="1" dirty="0" smtClean="0">
              <a:latin typeface="Arial" panose="020B0604020202020204" pitchFamily="34" charset="0"/>
              <a:cs typeface="Arial" panose="020B0604020202020204" pitchFamily="34" charset="0"/>
            </a:endParaRPr>
          </a:p>
          <a:p>
            <a:endParaRPr lang="tr-TR" sz="2800" b="1" dirty="0"/>
          </a:p>
        </p:txBody>
      </p:sp>
      <p:pic>
        <p:nvPicPr>
          <p:cNvPr id="6" name="Picture 5"/>
          <p:cNvPicPr>
            <a:picLocks noChangeAspect="1"/>
          </p:cNvPicPr>
          <p:nvPr/>
        </p:nvPicPr>
        <p:blipFill>
          <a:blip r:embed="rId2"/>
          <a:stretch>
            <a:fillRect/>
          </a:stretch>
        </p:blipFill>
        <p:spPr>
          <a:xfrm>
            <a:off x="1011115" y="4493135"/>
            <a:ext cx="4229100" cy="1076325"/>
          </a:xfrm>
          <a:prstGeom prst="rect">
            <a:avLst/>
          </a:prstGeom>
        </p:spPr>
      </p:pic>
      <p:pic>
        <p:nvPicPr>
          <p:cNvPr id="7" name="Picture 6"/>
          <p:cNvPicPr>
            <a:picLocks noChangeAspect="1"/>
          </p:cNvPicPr>
          <p:nvPr/>
        </p:nvPicPr>
        <p:blipFill>
          <a:blip r:embed="rId3"/>
          <a:stretch>
            <a:fillRect/>
          </a:stretch>
        </p:blipFill>
        <p:spPr>
          <a:xfrm>
            <a:off x="8044962" y="4493136"/>
            <a:ext cx="2953849" cy="1736390"/>
          </a:xfrm>
          <a:prstGeom prst="rect">
            <a:avLst/>
          </a:prstGeom>
        </p:spPr>
      </p:pic>
    </p:spTree>
    <p:extLst>
      <p:ext uri="{BB962C8B-B14F-4D97-AF65-F5344CB8AC3E}">
        <p14:creationId xmlns:p14="http://schemas.microsoft.com/office/powerpoint/2010/main" val="3598224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b="1" dirty="0"/>
              <a:t>Android Studio ile ilgili temel </a:t>
            </a:r>
            <a:r>
              <a:rPr lang="tr-TR" b="1" dirty="0" smtClean="0"/>
              <a:t>özellikler;</a:t>
            </a:r>
            <a:r>
              <a:rPr lang="tr-TR" b="1" dirty="0"/>
              <a:t/>
            </a:r>
            <a:br>
              <a:rPr lang="tr-TR" b="1" dirty="0"/>
            </a:br>
            <a:endParaRPr lang="tr-TR" dirty="0"/>
          </a:p>
        </p:txBody>
      </p:sp>
      <p:sp>
        <p:nvSpPr>
          <p:cNvPr id="3" name="Content Placeholder 2"/>
          <p:cNvSpPr>
            <a:spLocks noGrp="1"/>
          </p:cNvSpPr>
          <p:nvPr>
            <p:ph idx="1"/>
          </p:nvPr>
        </p:nvSpPr>
        <p:spPr/>
        <p:txBody>
          <a:bodyPr>
            <a:normAutofit fontScale="77500" lnSpcReduction="20000"/>
          </a:bodyPr>
          <a:lstStyle/>
          <a:p>
            <a:r>
              <a:rPr lang="tr-TR" dirty="0" smtClean="0">
                <a:latin typeface="Arial" panose="020B0604020202020204" pitchFamily="34" charset="0"/>
                <a:cs typeface="Arial" panose="020B0604020202020204" pitchFamily="34" charset="0"/>
              </a:rPr>
              <a:t>Gradle tabanlı esnek ve yapıcı bir </a:t>
            </a:r>
            <a:r>
              <a:rPr lang="tr-TR" dirty="0">
                <a:latin typeface="Arial" panose="020B0604020202020204" pitchFamily="34" charset="0"/>
                <a:cs typeface="Arial" panose="020B0604020202020204" pitchFamily="34" charset="0"/>
              </a:rPr>
              <a:t>yapıya sahip olması (Android Studio, yazdığımız kodları derlemek için Gradle kullanır.)</a:t>
            </a:r>
          </a:p>
          <a:p>
            <a:r>
              <a:rPr lang="tr-TR" dirty="0">
                <a:latin typeface="Arial" panose="020B0604020202020204" pitchFamily="34" charset="0"/>
                <a:cs typeface="Arial" panose="020B0604020202020204" pitchFamily="34" charset="0"/>
              </a:rPr>
              <a:t>Uygulamalarımızı kontrol edip çalıştırabileceğimiz emülatör ortamına sahip olması</a:t>
            </a:r>
          </a:p>
          <a:p>
            <a:r>
              <a:rPr lang="tr-TR" dirty="0">
                <a:latin typeface="Arial" panose="020B0604020202020204" pitchFamily="34" charset="0"/>
                <a:cs typeface="Arial" panose="020B0604020202020204" pitchFamily="34" charset="0"/>
              </a:rPr>
              <a:t>Tüm Android cihazlarına uygun uygulama geliştirme ortamına sahip olması</a:t>
            </a:r>
          </a:p>
          <a:p>
            <a:r>
              <a:rPr lang="tr-TR" dirty="0">
                <a:latin typeface="Arial" panose="020B0604020202020204" pitchFamily="34" charset="0"/>
                <a:cs typeface="Arial" panose="020B0604020202020204" pitchFamily="34" charset="0"/>
              </a:rPr>
              <a:t>GitHub entegrasyonuna sahip olması</a:t>
            </a:r>
          </a:p>
          <a:p>
            <a:r>
              <a:rPr lang="tr-TR" dirty="0">
                <a:latin typeface="Arial" panose="020B0604020202020204" pitchFamily="34" charset="0"/>
                <a:cs typeface="Arial" panose="020B0604020202020204" pitchFamily="34" charset="0"/>
              </a:rPr>
              <a:t>Kapsamlı test araçlarına sahip olması</a:t>
            </a:r>
          </a:p>
          <a:p>
            <a:r>
              <a:rPr lang="tr-TR" dirty="0">
                <a:latin typeface="Arial" panose="020B0604020202020204" pitchFamily="34" charset="0"/>
                <a:cs typeface="Arial" panose="020B0604020202020204" pitchFamily="34" charset="0"/>
              </a:rPr>
              <a:t>C++ ve NDK(Native Development Kit) desteğinin olması gibi birçok özelliğe sahiptir.</a:t>
            </a:r>
          </a:p>
          <a:p>
            <a:r>
              <a:rPr lang="tr-TR" dirty="0">
                <a:latin typeface="Arial" panose="020B0604020202020204" pitchFamily="34" charset="0"/>
                <a:cs typeface="Arial" panose="020B0604020202020204" pitchFamily="34" charset="0"/>
              </a:rPr>
              <a:t>Android Studio ile ilgili önemli özelliklerinden bir tanesi de sanal cihazlardır. Sanal cihazlar yaptığımız uygulamaları telefona aktarmadan tüm Android sürümlerine uygun bir şekilde bilgisayarımızda çalıştırmamızı sağlar. </a:t>
            </a:r>
          </a:p>
          <a:p>
            <a:endParaRPr lang="tr-TR" dirty="0"/>
          </a:p>
        </p:txBody>
      </p:sp>
    </p:spTree>
    <p:extLst>
      <p:ext uri="{BB962C8B-B14F-4D97-AF65-F5344CB8AC3E}">
        <p14:creationId xmlns:p14="http://schemas.microsoft.com/office/powerpoint/2010/main" val="2036761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Uygulama Yapılış Aşamaları:</a:t>
            </a:r>
            <a:endParaRPr lang="tr-TR" dirty="0"/>
          </a:p>
        </p:txBody>
      </p:sp>
      <p:sp>
        <p:nvSpPr>
          <p:cNvPr id="3" name="Content Placeholder 2"/>
          <p:cNvSpPr>
            <a:spLocks noGrp="1"/>
          </p:cNvSpPr>
          <p:nvPr>
            <p:ph idx="1"/>
          </p:nvPr>
        </p:nvSpPr>
        <p:spPr>
          <a:xfrm>
            <a:off x="3443653" y="2556932"/>
            <a:ext cx="7452943" cy="3318936"/>
          </a:xfrm>
        </p:spPr>
        <p:txBody>
          <a:bodyPr/>
          <a:lstStyle/>
          <a:p>
            <a:r>
              <a:rPr lang="tr-TR" dirty="0" smtClean="0">
                <a:latin typeface="Arial" panose="020B0604020202020204" pitchFamily="34" charset="0"/>
                <a:cs typeface="Arial" panose="020B0604020202020204" pitchFamily="34" charset="0"/>
              </a:rPr>
              <a:t>Öncelikle kullanıcıların her girişlerinde kendi kimlikleri ve isimleriyle giriş yapabilmesi için kullanıcı giriş ekranı tasarlandı. Bu giriş bilgileri daha sonra oluşturulacak bir database üzerine kayıt edilerek kullanıcı kaybı engellenecek</a:t>
            </a:r>
            <a:r>
              <a:rPr lang="tr-TR" dirty="0" smtClean="0"/>
              <a:t>.</a:t>
            </a:r>
            <a:endParaRPr lang="tr-TR" dirty="0"/>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556931"/>
            <a:ext cx="2171700" cy="3589869"/>
          </a:xfrm>
          <a:prstGeom prst="rect">
            <a:avLst/>
          </a:prstGeom>
          <a:noFill/>
          <a:ln>
            <a:noFill/>
          </a:ln>
        </p:spPr>
      </p:pic>
    </p:spTree>
    <p:extLst>
      <p:ext uri="{BB962C8B-B14F-4D97-AF65-F5344CB8AC3E}">
        <p14:creationId xmlns:p14="http://schemas.microsoft.com/office/powerpoint/2010/main" val="4198014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a:xfrm>
            <a:off x="4082927" y="2435471"/>
            <a:ext cx="6813669" cy="3789484"/>
          </a:xfrm>
        </p:spPr>
        <p:txBody>
          <a:bodyPr/>
          <a:lstStyle/>
          <a:p>
            <a:r>
              <a:rPr lang="tr-TR" dirty="0">
                <a:latin typeface="Arial" panose="020B0604020202020204" pitchFamily="34" charset="0"/>
                <a:cs typeface="Arial" panose="020B0604020202020204" pitchFamily="34" charset="0"/>
              </a:rPr>
              <a:t>Hatalı kullanıcı girişi olduğu durumda TextView üzerinden oluşan hata kullanıcıya </a:t>
            </a:r>
            <a:r>
              <a:rPr lang="tr-TR" dirty="0" smtClean="0">
                <a:latin typeface="Arial" panose="020B0604020202020204" pitchFamily="34" charset="0"/>
                <a:cs typeface="Arial" panose="020B0604020202020204" pitchFamily="34" charset="0"/>
              </a:rPr>
              <a:t>gösterilecek.</a:t>
            </a:r>
          </a:p>
          <a:p>
            <a:r>
              <a:rPr lang="tr-TR" dirty="0" smtClean="0">
                <a:latin typeface="Arial" panose="020B0604020202020204" pitchFamily="34" charset="0"/>
                <a:cs typeface="Arial" panose="020B0604020202020204" pitchFamily="34" charset="0"/>
              </a:rPr>
              <a:t>Şimdilik kullanıcı ilk giriş yaptığı bilgiler ile uygulamaya giriş yapabilecek.</a:t>
            </a:r>
            <a:endParaRPr lang="tr-TR"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1022471" y="2435471"/>
            <a:ext cx="3060457" cy="3789484"/>
          </a:xfrm>
          <a:prstGeom prst="rect">
            <a:avLst/>
          </a:prstGeom>
        </p:spPr>
      </p:pic>
    </p:spTree>
    <p:extLst>
      <p:ext uri="{BB962C8B-B14F-4D97-AF65-F5344CB8AC3E}">
        <p14:creationId xmlns:p14="http://schemas.microsoft.com/office/powerpoint/2010/main" val="855288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dirty="0"/>
          </a:p>
        </p:txBody>
      </p:sp>
      <p:sp>
        <p:nvSpPr>
          <p:cNvPr id="3" name="Content Placeholder 2"/>
          <p:cNvSpPr>
            <a:spLocks noGrp="1"/>
          </p:cNvSpPr>
          <p:nvPr>
            <p:ph idx="1"/>
          </p:nvPr>
        </p:nvSpPr>
        <p:spPr>
          <a:xfrm>
            <a:off x="5380891" y="2556932"/>
            <a:ext cx="6180993" cy="3659230"/>
          </a:xfrm>
        </p:spPr>
        <p:txBody>
          <a:bodyPr/>
          <a:lstStyle/>
          <a:p>
            <a:r>
              <a:rPr lang="tr-TR" dirty="0" smtClean="0">
                <a:latin typeface="Arial" panose="020B0604020202020204" pitchFamily="34" charset="0"/>
                <a:cs typeface="Arial" panose="020B0604020202020204" pitchFamily="34" charset="0"/>
              </a:rPr>
              <a:t>Uygulama ekranında tanımlı </a:t>
            </a:r>
            <a:r>
              <a:rPr lang="tr-TR" dirty="0" smtClean="0">
                <a:latin typeface="Arial" panose="020B0604020202020204" pitchFamily="34" charset="0"/>
                <a:cs typeface="Arial" panose="020B0604020202020204" pitchFamily="34" charset="0"/>
              </a:rPr>
              <a:t>number</a:t>
            </a:r>
            <a:r>
              <a:rPr lang="tr-TR" dirty="0" smtClean="0">
                <a:latin typeface="Arial" panose="020B0604020202020204" pitchFamily="34" charset="0"/>
                <a:cs typeface="Arial" panose="020B0604020202020204" pitchFamily="34" charset="0"/>
              </a:rPr>
              <a:t>picker’lar</a:t>
            </a:r>
            <a:r>
              <a:rPr lang="tr-TR" dirty="0" smtClean="0">
                <a:latin typeface="Arial" panose="020B0604020202020204" pitchFamily="34" charset="0"/>
                <a:cs typeface="Arial" panose="020B0604020202020204" pitchFamily="34" charset="0"/>
              </a:rPr>
              <a:t> </a:t>
            </a:r>
            <a:r>
              <a:rPr lang="tr-TR" dirty="0" smtClean="0">
                <a:latin typeface="Arial" panose="020B0604020202020204" pitchFamily="34" charset="0"/>
                <a:cs typeface="Arial" panose="020B0604020202020204" pitchFamily="34" charset="0"/>
              </a:rPr>
              <a:t>bulunmakta. Seçilecek dil burada gösterilerek çeviri gerçekleştirilecek</a:t>
            </a:r>
            <a:r>
              <a:rPr lang="tr-TR" dirty="0" smtClean="0">
                <a:latin typeface="Arial" panose="020B0604020202020204" pitchFamily="34" charset="0"/>
                <a:cs typeface="Arial" panose="020B0604020202020204" pitchFamily="34" charset="0"/>
              </a:rPr>
              <a:t>. Doğru dil seçenekleri önemlidir.</a:t>
            </a:r>
            <a:endParaRPr lang="tr-TR"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stretch>
            <a:fillRect/>
          </a:stretch>
        </p:blipFill>
        <p:spPr>
          <a:xfrm>
            <a:off x="1096491" y="2556932"/>
            <a:ext cx="4284400" cy="3536138"/>
          </a:xfrm>
          <a:prstGeom prst="rect">
            <a:avLst/>
          </a:prstGeom>
        </p:spPr>
      </p:pic>
    </p:spTree>
    <p:extLst>
      <p:ext uri="{BB962C8B-B14F-4D97-AF65-F5344CB8AC3E}">
        <p14:creationId xmlns:p14="http://schemas.microsoft.com/office/powerpoint/2010/main" val="4252511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smtClean="0"/>
              <a:t>Uygulamaya FireBase Ekleme;</a:t>
            </a:r>
            <a:endParaRPr lang="tr-TR" b="1" dirty="0"/>
          </a:p>
        </p:txBody>
      </p:sp>
      <p:sp>
        <p:nvSpPr>
          <p:cNvPr id="3" name="Content Placeholder 2"/>
          <p:cNvSpPr>
            <a:spLocks noGrp="1"/>
          </p:cNvSpPr>
          <p:nvPr>
            <p:ph idx="1"/>
          </p:nvPr>
        </p:nvSpPr>
        <p:spPr>
          <a:xfrm>
            <a:off x="4739053" y="2556932"/>
            <a:ext cx="6157543" cy="3318936"/>
          </a:xfrm>
        </p:spPr>
        <p:txBody>
          <a:bodyPr/>
          <a:lstStyle/>
          <a:p>
            <a:r>
              <a:rPr lang="tr-TR" dirty="0" smtClean="0"/>
              <a:t>Android Studio’nun sağ üst kenarında bulunan google hesap ekleme butonuna basıyoruz ve google hesabımız ile siteye giriş yapıyoruz.</a:t>
            </a:r>
            <a:endParaRPr lang="tr-TR" dirty="0"/>
          </a:p>
        </p:txBody>
      </p:sp>
      <p:pic>
        <p:nvPicPr>
          <p:cNvPr id="4" name="Picture 3"/>
          <p:cNvPicPr>
            <a:picLocks noChangeAspect="1"/>
          </p:cNvPicPr>
          <p:nvPr/>
        </p:nvPicPr>
        <p:blipFill>
          <a:blip r:embed="rId2"/>
          <a:stretch>
            <a:fillRect/>
          </a:stretch>
        </p:blipFill>
        <p:spPr>
          <a:xfrm>
            <a:off x="1295401" y="2556931"/>
            <a:ext cx="3443653" cy="1850311"/>
          </a:xfrm>
          <a:prstGeom prst="rect">
            <a:avLst/>
          </a:prstGeom>
        </p:spPr>
      </p:pic>
    </p:spTree>
    <p:extLst>
      <p:ext uri="{BB962C8B-B14F-4D97-AF65-F5344CB8AC3E}">
        <p14:creationId xmlns:p14="http://schemas.microsoft.com/office/powerpoint/2010/main" val="4125009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a:xfrm>
            <a:off x="6571065" y="2556932"/>
            <a:ext cx="4325531" cy="3318936"/>
          </a:xfrm>
        </p:spPr>
        <p:txBody>
          <a:bodyPr/>
          <a:lstStyle/>
          <a:p>
            <a:r>
              <a:rPr lang="tr-TR" dirty="0" smtClean="0"/>
              <a:t>Karşımıza çıkan bilgileri eksiksiz bir şekilde dolduruyoruz. Bizden uygulamamızın paket ismini </a:t>
            </a:r>
            <a:r>
              <a:rPr lang="tr-TR" dirty="0" smtClean="0"/>
              <a:t>com.example.intertranslation </a:t>
            </a:r>
            <a:r>
              <a:rPr lang="tr-TR" dirty="0" smtClean="0"/>
              <a:t>şeklinde giriyoruz.</a:t>
            </a:r>
            <a:endParaRPr lang="tr-TR" dirty="0"/>
          </a:p>
        </p:txBody>
      </p:sp>
      <p:pic>
        <p:nvPicPr>
          <p:cNvPr id="4" name="Picture 3"/>
          <p:cNvPicPr>
            <a:picLocks noChangeAspect="1"/>
          </p:cNvPicPr>
          <p:nvPr/>
        </p:nvPicPr>
        <p:blipFill>
          <a:blip r:embed="rId2"/>
          <a:stretch>
            <a:fillRect/>
          </a:stretch>
        </p:blipFill>
        <p:spPr>
          <a:xfrm>
            <a:off x="1295402" y="2556932"/>
            <a:ext cx="5275664" cy="2568983"/>
          </a:xfrm>
          <a:prstGeom prst="rect">
            <a:avLst/>
          </a:prstGeom>
        </p:spPr>
      </p:pic>
    </p:spTree>
    <p:extLst>
      <p:ext uri="{BB962C8B-B14F-4D97-AF65-F5344CB8AC3E}">
        <p14:creationId xmlns:p14="http://schemas.microsoft.com/office/powerpoint/2010/main" val="723403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a:xfrm>
            <a:off x="5838091" y="2556932"/>
            <a:ext cx="5723794" cy="3678710"/>
          </a:xfrm>
        </p:spPr>
        <p:txBody>
          <a:bodyPr/>
          <a:lstStyle/>
          <a:p>
            <a:r>
              <a:rPr lang="tr-TR" dirty="0" smtClean="0"/>
              <a:t>Google’nin oluşturduğu json dosyasını uygulamamız içerisine ekliyoruz. Kurulum işlemlerini site üzerinde bulabilirsiniz.</a:t>
            </a:r>
          </a:p>
          <a:p>
            <a:r>
              <a:rPr lang="tr-TR" dirty="0" smtClean="0"/>
              <a:t>**</a:t>
            </a:r>
            <a:r>
              <a:rPr lang="tr-TR" b="1" spc="-1" dirty="0" smtClean="0">
                <a:latin typeface="Times New Roman"/>
                <a:ea typeface="Arial"/>
              </a:rPr>
              <a:t>Project&gt;Intertranslation&gt;app </a:t>
            </a:r>
            <a:r>
              <a:rPr lang="tr-TR" spc="-1" dirty="0">
                <a:latin typeface="Times New Roman"/>
                <a:ea typeface="Arial"/>
              </a:rPr>
              <a:t>içerisine </a:t>
            </a:r>
            <a:r>
              <a:rPr lang="tr-TR" b="1" spc="-1" dirty="0">
                <a:latin typeface="Times New Roman"/>
                <a:ea typeface="Arial"/>
              </a:rPr>
              <a:t>Google Firebase’in </a:t>
            </a:r>
            <a:r>
              <a:rPr lang="tr-TR" spc="-1" dirty="0">
                <a:latin typeface="Times New Roman"/>
                <a:ea typeface="Arial"/>
              </a:rPr>
              <a:t>bize projemiz için vermiş olduğu </a:t>
            </a:r>
            <a:r>
              <a:rPr lang="tr-TR" b="1" spc="-1" dirty="0">
                <a:latin typeface="Times New Roman"/>
                <a:ea typeface="Arial"/>
              </a:rPr>
              <a:t>google-services.json </a:t>
            </a:r>
            <a:r>
              <a:rPr lang="tr-TR" spc="-1" dirty="0">
                <a:latin typeface="Times New Roman"/>
                <a:ea typeface="Arial"/>
              </a:rPr>
              <a:t>dosyasını dahil ediyoruz.</a:t>
            </a:r>
            <a:endParaRPr lang="tr-TR" spc="-1" dirty="0">
              <a:latin typeface="Arial"/>
            </a:endParaRPr>
          </a:p>
          <a:p>
            <a:r>
              <a:rPr lang="tr-TR" dirty="0" smtClean="0"/>
              <a:t>**</a:t>
            </a:r>
            <a:endParaRPr lang="tr-TR" dirty="0"/>
          </a:p>
        </p:txBody>
      </p:sp>
      <p:pic>
        <p:nvPicPr>
          <p:cNvPr id="4" name="Picture 3"/>
          <p:cNvPicPr>
            <a:picLocks noChangeAspect="1"/>
          </p:cNvPicPr>
          <p:nvPr/>
        </p:nvPicPr>
        <p:blipFill>
          <a:blip r:embed="rId2"/>
          <a:stretch>
            <a:fillRect/>
          </a:stretch>
        </p:blipFill>
        <p:spPr>
          <a:xfrm>
            <a:off x="1010878" y="2487670"/>
            <a:ext cx="4827214" cy="3747972"/>
          </a:xfrm>
          <a:prstGeom prst="rect">
            <a:avLst/>
          </a:prstGeom>
        </p:spPr>
      </p:pic>
    </p:spTree>
    <p:extLst>
      <p:ext uri="{BB962C8B-B14F-4D97-AF65-F5344CB8AC3E}">
        <p14:creationId xmlns:p14="http://schemas.microsoft.com/office/powerpoint/2010/main" val="3213761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a:xfrm>
            <a:off x="6471138" y="2556930"/>
            <a:ext cx="5099539" cy="3685607"/>
          </a:xfrm>
        </p:spPr>
        <p:txBody>
          <a:bodyPr/>
          <a:lstStyle/>
          <a:p>
            <a:r>
              <a:rPr lang="tr-TR" dirty="0" smtClean="0"/>
              <a:t>«translate»Çevir butonumuz için oluşturduğumuz fonksiyon.</a:t>
            </a:r>
            <a:endParaRPr lang="tr-TR" dirty="0"/>
          </a:p>
        </p:txBody>
      </p:sp>
      <p:pic>
        <p:nvPicPr>
          <p:cNvPr id="4" name="Picture 3"/>
          <p:cNvPicPr>
            <a:picLocks noChangeAspect="1"/>
          </p:cNvPicPr>
          <p:nvPr/>
        </p:nvPicPr>
        <p:blipFill>
          <a:blip r:embed="rId2"/>
          <a:stretch>
            <a:fillRect/>
          </a:stretch>
        </p:blipFill>
        <p:spPr>
          <a:xfrm>
            <a:off x="1295401" y="2556931"/>
            <a:ext cx="5175737" cy="2498645"/>
          </a:xfrm>
          <a:prstGeom prst="rect">
            <a:avLst/>
          </a:prstGeom>
        </p:spPr>
      </p:pic>
    </p:spTree>
    <p:extLst>
      <p:ext uri="{BB962C8B-B14F-4D97-AF65-F5344CB8AC3E}">
        <p14:creationId xmlns:p14="http://schemas.microsoft.com/office/powerpoint/2010/main" val="2274289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a:xfrm>
            <a:off x="5829263" y="2556932"/>
            <a:ext cx="5741414" cy="3676814"/>
          </a:xfrm>
        </p:spPr>
        <p:txBody>
          <a:bodyPr/>
          <a:lstStyle/>
          <a:p>
            <a:pPr>
              <a:lnSpc>
                <a:spcPct val="100000"/>
              </a:lnSpc>
            </a:pPr>
            <a:r>
              <a:rPr lang="tr-TR" spc="-1" dirty="0">
                <a:latin typeface="Arial" panose="020B0604020202020204" pitchFamily="34" charset="0"/>
                <a:cs typeface="Arial" panose="020B0604020202020204" pitchFamily="34" charset="0"/>
              </a:rPr>
              <a:t>Bu fonksiyonumuz ise </a:t>
            </a:r>
            <a:r>
              <a:rPr lang="tr-TR" b="1" spc="-1" dirty="0">
                <a:latin typeface="Arial" panose="020B0604020202020204" pitchFamily="34" charset="0"/>
                <a:cs typeface="Arial" panose="020B0604020202020204" pitchFamily="34" charset="0"/>
              </a:rPr>
              <a:t>Firebase’den </a:t>
            </a:r>
            <a:r>
              <a:rPr lang="tr-TR" spc="-1" dirty="0">
                <a:latin typeface="Arial" panose="020B0604020202020204" pitchFamily="34" charset="0"/>
                <a:cs typeface="Arial" panose="020B0604020202020204" pitchFamily="34" charset="0"/>
              </a:rPr>
              <a:t> dilleri çevirebilmesi için gerekli kodlardır.</a:t>
            </a:r>
          </a:p>
          <a:p>
            <a:pPr>
              <a:lnSpc>
                <a:spcPct val="100000"/>
              </a:lnSpc>
            </a:pPr>
            <a:r>
              <a:rPr lang="tr-TR" spc="-1" dirty="0" smtClean="0">
                <a:latin typeface="Arial" panose="020B0604020202020204" pitchFamily="34" charset="0"/>
                <a:cs typeface="Arial" panose="020B0604020202020204" pitchFamily="34" charset="0"/>
              </a:rPr>
              <a:t>Kullanıcı chechkbox’tan </a:t>
            </a:r>
            <a:r>
              <a:rPr lang="tr-TR" spc="-1" dirty="0">
                <a:latin typeface="Arial" panose="020B0604020202020204" pitchFamily="34" charset="0"/>
                <a:cs typeface="Arial" panose="020B0604020202020204" pitchFamily="34" charset="0"/>
              </a:rPr>
              <a:t>seçtiğinde dilden dile çevirmesi gibi.</a:t>
            </a:r>
          </a:p>
          <a:p>
            <a:endParaRPr lang="tr-TR" dirty="0"/>
          </a:p>
        </p:txBody>
      </p:sp>
      <p:pic>
        <p:nvPicPr>
          <p:cNvPr id="5" name="Picture 4"/>
          <p:cNvPicPr>
            <a:picLocks noChangeAspect="1"/>
          </p:cNvPicPr>
          <p:nvPr/>
        </p:nvPicPr>
        <p:blipFill>
          <a:blip r:embed="rId2"/>
          <a:stretch>
            <a:fillRect/>
          </a:stretch>
        </p:blipFill>
        <p:spPr>
          <a:xfrm>
            <a:off x="1295402" y="2638790"/>
            <a:ext cx="4505325" cy="2029925"/>
          </a:xfrm>
          <a:prstGeom prst="rect">
            <a:avLst/>
          </a:prstGeom>
        </p:spPr>
      </p:pic>
    </p:spTree>
    <p:extLst>
      <p:ext uri="{BB962C8B-B14F-4D97-AF65-F5344CB8AC3E}">
        <p14:creationId xmlns:p14="http://schemas.microsoft.com/office/powerpoint/2010/main" val="3780371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a:xfrm>
            <a:off x="5890845" y="2556932"/>
            <a:ext cx="5005751" cy="3318936"/>
          </a:xfrm>
        </p:spPr>
        <p:txBody>
          <a:bodyPr/>
          <a:lstStyle/>
          <a:p>
            <a:r>
              <a:rPr lang="tr-TR" dirty="0" smtClean="0"/>
              <a:t>Buton geçiş fonksiyonlarını da göstermek isterim.</a:t>
            </a:r>
            <a:endParaRPr lang="tr-TR" dirty="0"/>
          </a:p>
        </p:txBody>
      </p:sp>
      <p:pic>
        <p:nvPicPr>
          <p:cNvPr id="6" name="Picture 5"/>
          <p:cNvPicPr>
            <a:picLocks noChangeAspect="1"/>
          </p:cNvPicPr>
          <p:nvPr/>
        </p:nvPicPr>
        <p:blipFill>
          <a:blip r:embed="rId2"/>
          <a:stretch>
            <a:fillRect/>
          </a:stretch>
        </p:blipFill>
        <p:spPr>
          <a:xfrm>
            <a:off x="1392117" y="3572973"/>
            <a:ext cx="5438775" cy="714375"/>
          </a:xfrm>
          <a:prstGeom prst="rect">
            <a:avLst/>
          </a:prstGeom>
        </p:spPr>
      </p:pic>
    </p:spTree>
    <p:extLst>
      <p:ext uri="{BB962C8B-B14F-4D97-AF65-F5344CB8AC3E}">
        <p14:creationId xmlns:p14="http://schemas.microsoft.com/office/powerpoint/2010/main" val="1797944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KAYNAKÇA</a:t>
            </a:r>
            <a:endParaRPr lang="tr-TR" dirty="0"/>
          </a:p>
        </p:txBody>
      </p:sp>
      <p:sp>
        <p:nvSpPr>
          <p:cNvPr id="3" name="Content Placeholder 2"/>
          <p:cNvSpPr>
            <a:spLocks noGrp="1"/>
          </p:cNvSpPr>
          <p:nvPr>
            <p:ph idx="1"/>
          </p:nvPr>
        </p:nvSpPr>
        <p:spPr/>
        <p:txBody>
          <a:bodyPr/>
          <a:lstStyle/>
          <a:p>
            <a:r>
              <a:rPr lang="tr-TR" dirty="0">
                <a:hlinkClick r:id="rId2"/>
              </a:rPr>
              <a:t>https://</a:t>
            </a:r>
            <a:r>
              <a:rPr lang="tr-TR" dirty="0" smtClean="0">
                <a:hlinkClick r:id="rId2"/>
              </a:rPr>
              <a:t>firebase.google.com/docs/ml-kit/android/identify-languages?authuser=0</a:t>
            </a:r>
            <a:endParaRPr lang="tr-TR" dirty="0" smtClean="0"/>
          </a:p>
          <a:p>
            <a:r>
              <a:rPr lang="tr-TR" dirty="0">
                <a:hlinkClick r:id="rId3"/>
              </a:rPr>
              <a:t>https://</a:t>
            </a:r>
            <a:r>
              <a:rPr lang="tr-TR" dirty="0" smtClean="0">
                <a:hlinkClick r:id="rId3"/>
              </a:rPr>
              <a:t>console.firebase.google.com/</a:t>
            </a:r>
            <a:endParaRPr lang="tr-TR" dirty="0" smtClean="0"/>
          </a:p>
          <a:p>
            <a:r>
              <a:rPr lang="tr-TR" dirty="0">
                <a:hlinkClick r:id="rId4"/>
              </a:rPr>
              <a:t>https://tutorial.eyehunts.com/android/android-checkbox-example-kotlin/</a:t>
            </a:r>
            <a:endParaRPr lang="tr-TR" dirty="0"/>
          </a:p>
        </p:txBody>
      </p:sp>
    </p:spTree>
    <p:extLst>
      <p:ext uri="{BB962C8B-B14F-4D97-AF65-F5344CB8AC3E}">
        <p14:creationId xmlns:p14="http://schemas.microsoft.com/office/powerpoint/2010/main" val="208664816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3764</TotalTime>
  <Words>420</Words>
  <Application>Microsoft Office PowerPoint</Application>
  <PresentationFormat>Widescreen</PresentationFormat>
  <Paragraphs>44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Garamond</vt:lpstr>
      <vt:lpstr>Times New Roman</vt:lpstr>
      <vt:lpstr>Organic</vt:lpstr>
      <vt:lpstr>Android Programlamaya Giriş</vt:lpstr>
      <vt:lpstr>INTERTRANSLATİON;</vt:lpstr>
      <vt:lpstr>Kotlin</vt:lpstr>
      <vt:lpstr>Android Studio ile ilgili temel özellikler; </vt:lpstr>
      <vt:lpstr>Uygulama Yapılış Aşamaları:</vt:lpstr>
      <vt:lpstr>PowerPoint Presentation</vt:lpstr>
      <vt:lpstr>PowerPoint Presentation</vt:lpstr>
      <vt:lpstr>Uygulamaya FireBase Ekleme;</vt:lpstr>
      <vt:lpstr>PowerPoint Presentation</vt:lpstr>
      <vt:lpstr>PowerPoint Presentation</vt:lpstr>
      <vt:lpstr>PowerPoint Presentation</vt:lpstr>
      <vt:lpstr>PowerPoint Presentation</vt:lpstr>
      <vt:lpstr>PowerPoint Presentation</vt:lpstr>
      <vt:lpstr>KAYNAKÇA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Programlamaya Giriş</dc:title>
  <dc:creator>Sero</dc:creator>
  <cp:lastModifiedBy>Sero</cp:lastModifiedBy>
  <cp:revision>20</cp:revision>
  <dcterms:created xsi:type="dcterms:W3CDTF">2020-04-21T14:02:55Z</dcterms:created>
  <dcterms:modified xsi:type="dcterms:W3CDTF">2020-05-03T00:42:53Z</dcterms:modified>
</cp:coreProperties>
</file>